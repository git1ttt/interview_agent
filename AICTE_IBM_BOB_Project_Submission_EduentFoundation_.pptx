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90" r:id="rId2"/>
    <p:sldId id="291" r:id="rId3"/>
    <p:sldId id="292" r:id="rId4"/>
    <p:sldId id="293" r:id="rId5"/>
    <p:sldId id="294" r:id="rId6"/>
    <p:sldId id="296" r:id="rId7"/>
    <p:sldId id="295" r:id="rId8"/>
    <p:sldId id="297" r:id="rId9"/>
    <p:sldId id="298" r:id="rId10"/>
    <p:sldId id="299" r:id="rId11"/>
    <p:sldId id="301" r:id="rId12"/>
    <p:sldId id="302" r:id="rId13"/>
    <p:sldId id="303" r:id="rId14"/>
    <p:sldId id="304" r:id="rId15"/>
    <p:sldId id="305" r:id="rId16"/>
    <p:sldId id="306" r:id="rId17"/>
    <p:sldId id="307" r:id="rId18"/>
    <p:sldId id="308" r:id="rId19"/>
    <p:sldId id="30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8F17C49E-9142-4EA0-A6CD-A2B98218ECA8}">
          <p14:sldIdLst>
            <p14:sldId id="290"/>
            <p14:sldId id="291"/>
            <p14:sldId id="292"/>
            <p14:sldId id="293"/>
            <p14:sldId id="294"/>
            <p14:sldId id="296"/>
            <p14:sldId id="295"/>
            <p14:sldId id="297"/>
            <p14:sldId id="298"/>
            <p14:sldId id="299"/>
            <p14:sldId id="301"/>
            <p14:sldId id="302"/>
            <p14:sldId id="303"/>
            <p14:sldId id="304"/>
            <p14:sldId id="305"/>
            <p14:sldId id="306"/>
            <p14:sldId id="307"/>
            <p14:sldId id="308"/>
            <p14:sldId id="309"/>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04261438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a:t>Roshana B A</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baroshana367@gmail.com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9353179544</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3765755" y="3632027"/>
            <a:ext cx="1258529" cy="974157"/>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2" y="1345307"/>
            <a:ext cx="10280254" cy="461665"/>
          </a:xfrm>
          <a:prstGeom prst="rect">
            <a:avLst/>
          </a:prstGeom>
          <a:noFill/>
        </p:spPr>
        <p:txBody>
          <a:bodyPr wrap="square" rtlCol="0">
            <a:spAutoFit/>
          </a:bodyPr>
          <a:lstStyle/>
          <a:p>
            <a:r>
              <a:rPr lang="en-US" sz="2400" b="1" dirty="0"/>
              <a:t>Domain of  Project –  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Title : Interview Trainer Agent </a:t>
            </a:r>
            <a:endParaRPr lang="en-IN" sz="2400" b="1" dirty="0">
              <a:highlight>
                <a:srgbClr val="FFFF00"/>
              </a:highlight>
            </a:endParaRP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370701"/>
          </a:xfrm>
          <a:prstGeom prst="rect">
            <a:avLst/>
          </a:prstGeom>
          <a:noFill/>
        </p:spPr>
        <p:txBody>
          <a:bodyPr wrap="square" rtlCol="0">
            <a:spAutoFit/>
          </a:bodyPr>
          <a:lstStyle/>
          <a:p>
            <a:r>
              <a:rPr lang="en-IN" b="1" dirty="0"/>
              <a:t>Problem Statement – Interview Trainer Agent</a:t>
            </a:r>
          </a:p>
          <a:p>
            <a:pPr>
              <a:lnSpc>
                <a:spcPct val="150000"/>
              </a:lnSpc>
            </a:pPr>
            <a:r>
              <a:rPr lang="en-IN" b="1" dirty="0"/>
              <a:t>The Challenge</a:t>
            </a:r>
          </a:p>
          <a:p>
            <a:pPr>
              <a:lnSpc>
                <a:spcPct val="150000"/>
              </a:lnSpc>
            </a:pPr>
            <a:r>
              <a:rPr lang="en-IN" dirty="0"/>
              <a:t>Preparing for job interviews is often difficult due to </a:t>
            </a:r>
            <a:r>
              <a:rPr lang="en-IN" b="1" dirty="0"/>
              <a:t>lack of personalized guidance, limited access to real interview questions, and absence of proper feedback</a:t>
            </a:r>
            <a:r>
              <a:rPr lang="en-IN" dirty="0"/>
              <a:t>. Information about interview patterns, technical questions, and HR expectations is scattered across unreliable sources. Without </a:t>
            </a:r>
            <a:r>
              <a:rPr lang="en-IN" b="1" dirty="0"/>
              <a:t>real-time, tailored preparation</a:t>
            </a:r>
            <a:r>
              <a:rPr lang="en-IN" dirty="0"/>
              <a:t>, candidates struggle to identify their weaknesses, improve communication skills, and build confidence for interviews.</a:t>
            </a:r>
          </a:p>
          <a:p>
            <a:pPr>
              <a:lnSpc>
                <a:spcPct val="150000"/>
              </a:lnSpc>
            </a:pPr>
            <a:r>
              <a:rPr lang="en-IN" b="1" dirty="0"/>
              <a:t>The Objective</a:t>
            </a:r>
          </a:p>
          <a:p>
            <a:pPr>
              <a:lnSpc>
                <a:spcPct val="150000"/>
              </a:lnSpc>
            </a:pPr>
            <a:r>
              <a:rPr lang="en-IN" dirty="0"/>
              <a:t>Build an </a:t>
            </a:r>
            <a:r>
              <a:rPr lang="en-IN" b="1" dirty="0"/>
              <a:t>AI-powered Interview Trainer Agent</a:t>
            </a:r>
            <a:r>
              <a:rPr lang="en-IN" dirty="0"/>
              <a:t> that delivers </a:t>
            </a:r>
            <a:r>
              <a:rPr lang="en-IN" b="1" dirty="0"/>
              <a:t>personalized interview preparation and evaluation</a:t>
            </a:r>
            <a:r>
              <a:rPr lang="en-IN" dirty="0"/>
              <a:t>. The solution should:</a:t>
            </a:r>
          </a:p>
          <a:p>
            <a:pPr lvl="0">
              <a:lnSpc>
                <a:spcPct val="150000"/>
              </a:lnSpc>
            </a:pPr>
            <a:r>
              <a:rPr lang="en-IN" b="1" dirty="0"/>
              <a:t>Personalized Question Generation</a:t>
            </a:r>
            <a:r>
              <a:rPr lang="en-IN" dirty="0"/>
              <a:t> – Generate role-based technical, behavioural, and HR questions. </a:t>
            </a:r>
          </a:p>
          <a:p>
            <a:pPr lvl="0">
              <a:lnSpc>
                <a:spcPct val="150000"/>
              </a:lnSpc>
            </a:pPr>
            <a:r>
              <a:rPr lang="en-IN" b="1" dirty="0"/>
              <a:t>RAG-based Retrieval</a:t>
            </a:r>
            <a:r>
              <a:rPr lang="en-IN" dirty="0"/>
              <a:t> – Fetch real interview questions and company expectations from reliable sources. </a:t>
            </a:r>
          </a:p>
          <a:p>
            <a:pPr lvl="0">
              <a:lnSpc>
                <a:spcPct val="150000"/>
              </a:lnSpc>
            </a:pPr>
            <a:r>
              <a:rPr lang="en-IN" b="1" dirty="0"/>
              <a:t>Answer Evaluation &amp; Feedback</a:t>
            </a:r>
            <a:r>
              <a:rPr lang="en-IN" dirty="0"/>
              <a:t> – Provide scoring, feedback, and improvement suggestions. </a:t>
            </a:r>
          </a:p>
          <a:p>
            <a:pPr lvl="0">
              <a:lnSpc>
                <a:spcPct val="150000"/>
              </a:lnSpc>
            </a:pPr>
            <a:r>
              <a:rPr lang="en-IN" b="1" dirty="0"/>
              <a:t>Mock Interview Simulation</a:t>
            </a:r>
            <a:r>
              <a:rPr lang="en-IN" dirty="0"/>
              <a:t> – Conduct live interview sessions with performance tracking. </a:t>
            </a:r>
          </a:p>
          <a:p>
            <a:pPr lvl="0">
              <a:lnSpc>
                <a:spcPct val="150000"/>
              </a:lnSpc>
            </a:pPr>
            <a:r>
              <a:rPr lang="en-IN" b="1" dirty="0"/>
              <a:t>Preparation Strategy</a:t>
            </a:r>
            <a:r>
              <a:rPr lang="en-IN" dirty="0"/>
              <a:t> – Suggest study plans based on user performance. </a:t>
            </a:r>
          </a:p>
          <a:p>
            <a:pPr lvl="0">
              <a:lnSpc>
                <a:spcPct val="150000"/>
              </a:lnSpc>
            </a:pPr>
            <a:r>
              <a:rPr lang="en-IN" b="1" dirty="0"/>
              <a:t>Multi-Agent System</a:t>
            </a:r>
            <a:r>
              <a:rPr lang="en-IN" dirty="0"/>
              <a:t> – Question Generator, Evaluation Agent, and Strategy Planner. </a:t>
            </a:r>
          </a:p>
          <a:p>
            <a:pPr lvl="0">
              <a:lnSpc>
                <a:spcPct val="150000"/>
              </a:lnSpc>
            </a:pPr>
            <a:r>
              <a:rPr lang="en-IN" b="1" dirty="0"/>
              <a:t>Visualization Dashboard</a:t>
            </a:r>
            <a:r>
              <a:rPr lang="en-IN" dirty="0"/>
              <a:t> – Show progress, scores, and weak areas.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185761"/>
          </a:xfrm>
          <a:prstGeom prst="rect">
            <a:avLst/>
          </a:prstGeom>
          <a:noFill/>
        </p:spPr>
        <p:txBody>
          <a:bodyPr wrap="square" rtlCol="0">
            <a:spAutoFit/>
          </a:bodyPr>
          <a:lstStyle/>
          <a:p>
            <a:r>
              <a:rPr lang="en-IN" b="1" dirty="0"/>
              <a:t>Proposed Solution: AI-Powered Interview Trainer Agent</a:t>
            </a:r>
          </a:p>
          <a:p>
            <a:r>
              <a:rPr lang="en-IN" dirty="0"/>
              <a:t>The proposed solution is a </a:t>
            </a:r>
            <a:r>
              <a:rPr lang="en-IN" b="1" dirty="0"/>
              <a:t>multi-agent AI-powered Interview Trainer Agent</a:t>
            </a:r>
            <a:r>
              <a:rPr lang="en-IN" dirty="0"/>
              <a:t> built using </a:t>
            </a:r>
            <a:r>
              <a:rPr lang="en-IN" b="1" dirty="0"/>
              <a:t>IBM watsonx.ai, IBM Granite Models, and IBM Cloud Lite services</a:t>
            </a:r>
            <a:r>
              <a:rPr lang="en-IN" dirty="0"/>
              <a:t> to provide </a:t>
            </a:r>
            <a:r>
              <a:rPr lang="en-IN" b="1" dirty="0"/>
              <a:t>personalized interview preparation and real-time feedback</a:t>
            </a:r>
            <a:r>
              <a:rPr lang="en-IN" dirty="0"/>
              <a:t>. The system addresses challenges in interview preparation by offering structured guidance, question generation, and performance evaluation.</a:t>
            </a:r>
          </a:p>
          <a:p>
            <a:r>
              <a:rPr lang="en-IN" dirty="0"/>
              <a:t>At its core, the solution uses a </a:t>
            </a:r>
            <a:r>
              <a:rPr lang="en-IN" b="1" dirty="0"/>
              <a:t>Retrieval-Augmented Generation (RAG)</a:t>
            </a:r>
            <a:r>
              <a:rPr lang="en-IN" dirty="0"/>
              <a:t> pipeline to fetch relevant interview questions, company-specific patterns, and industry expectations from trusted sources. This data is embedded and stored in a vector database, enabling accurate retrieval and intelligent response generation.</a:t>
            </a:r>
          </a:p>
          <a:p>
            <a:r>
              <a:rPr lang="en-IN" dirty="0"/>
              <a:t>The system consists of key agents:</a:t>
            </a:r>
          </a:p>
          <a:p>
            <a:pPr lvl="0"/>
            <a:r>
              <a:rPr lang="en-IN" b="1" dirty="0"/>
              <a:t>Question Generator Agent</a:t>
            </a:r>
            <a:r>
              <a:rPr lang="en-IN" dirty="0"/>
              <a:t> retrieves and generates role-specific technical and HR questions using RAG. </a:t>
            </a:r>
          </a:p>
          <a:p>
            <a:pPr lvl="0"/>
            <a:r>
              <a:rPr lang="en-IN" b="1" dirty="0"/>
              <a:t>Evaluation Agent</a:t>
            </a:r>
            <a:r>
              <a:rPr lang="en-IN" dirty="0"/>
              <a:t> </a:t>
            </a:r>
            <a:r>
              <a:rPr lang="en-IN" dirty="0" err="1"/>
              <a:t>analyzes</a:t>
            </a:r>
            <a:r>
              <a:rPr lang="en-IN" dirty="0"/>
              <a:t> user answers and provides scoring, feedback, and improvement suggestions. </a:t>
            </a:r>
          </a:p>
          <a:p>
            <a:pPr lvl="0"/>
            <a:r>
              <a:rPr lang="en-IN" b="1" dirty="0"/>
              <a:t>Strategy Agent</a:t>
            </a:r>
            <a:r>
              <a:rPr lang="en-IN" dirty="0"/>
              <a:t> recommends personalized preparation plans based on performance. </a:t>
            </a:r>
          </a:p>
          <a:p>
            <a:pPr lvl="0"/>
            <a:r>
              <a:rPr lang="en-IN" b="1" dirty="0"/>
              <a:t>Resume Analyzer Agent</a:t>
            </a:r>
            <a:r>
              <a:rPr lang="en-IN" dirty="0"/>
              <a:t> extracts skills and generates targeted interview questions. </a:t>
            </a:r>
          </a:p>
          <a:p>
            <a:r>
              <a:rPr lang="en-IN" dirty="0"/>
              <a:t>The solution includes a </a:t>
            </a:r>
            <a:r>
              <a:rPr lang="en-IN" b="1" dirty="0"/>
              <a:t>user-friendly dashboard (built with </a:t>
            </a:r>
            <a:r>
              <a:rPr lang="en-IN" b="1" dirty="0" err="1"/>
              <a:t>Streamlit</a:t>
            </a:r>
            <a:r>
              <a:rPr lang="en-IN" b="1" dirty="0"/>
              <a:t>)</a:t>
            </a:r>
            <a:r>
              <a:rPr lang="en-IN" dirty="0"/>
              <a:t> that allows users to attempt mock interviews, track performance, and view progress over time.</a:t>
            </a:r>
          </a:p>
          <a:p>
            <a:r>
              <a:rPr lang="en-IN" dirty="0"/>
              <a:t>IBM watsonx.ai manages model deployment and embeddings, while </a:t>
            </a:r>
            <a:r>
              <a:rPr lang="en-IN" b="1" dirty="0"/>
              <a:t>Granite models</a:t>
            </a:r>
            <a:r>
              <a:rPr lang="en-IN" dirty="0"/>
              <a:t> enable reasoning, summarization, and personalization.</a:t>
            </a:r>
          </a:p>
          <a:p>
            <a:r>
              <a:rPr lang="en-IN" dirty="0"/>
              <a:t>Overall, this system delivers an </a:t>
            </a:r>
            <a:r>
              <a:rPr lang="en-IN" b="1" dirty="0"/>
              <a:t>end-to-end intelligent interview preparation assistant</a:t>
            </a:r>
            <a:r>
              <a:rPr lang="en-IN" dirty="0"/>
              <a:t> that improves user confidence, enhances performance, and increases success rates in job interviews.</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678204"/>
          </a:xfrm>
          <a:prstGeom prst="rect">
            <a:avLst/>
          </a:prstGeom>
          <a:noFill/>
        </p:spPr>
        <p:txBody>
          <a:bodyPr wrap="square" rtlCol="0">
            <a:spAutoFit/>
          </a:bodyPr>
          <a:lstStyle/>
          <a:p>
            <a:endParaRPr lang="en-IN" sz="1800" b="1" dirty="0"/>
          </a:p>
          <a:p>
            <a:pPr marL="285750" lvl="0" indent="-285750">
              <a:lnSpc>
                <a:spcPct val="200000"/>
              </a:lnSpc>
              <a:buFont typeface="Arial" panose="020B0604020202020204" pitchFamily="34" charset="0"/>
              <a:buChar char="•"/>
            </a:pPr>
            <a:r>
              <a:rPr lang="en-IN" sz="1800" b="1" dirty="0"/>
              <a:t>IBM Bob platform</a:t>
            </a:r>
            <a:r>
              <a:rPr lang="en-IN" sz="1800" dirty="0"/>
              <a:t> – Multi-agent orchestration </a:t>
            </a:r>
          </a:p>
          <a:p>
            <a:pPr marL="285750" lvl="0" indent="-285750">
              <a:lnSpc>
                <a:spcPct val="200000"/>
              </a:lnSpc>
              <a:buFont typeface="Arial" panose="020B0604020202020204" pitchFamily="34" charset="0"/>
              <a:buChar char="•"/>
            </a:pPr>
            <a:r>
              <a:rPr lang="en-IN" sz="1800" b="1" dirty="0"/>
              <a:t>IBM Granite Model</a:t>
            </a:r>
            <a:r>
              <a:rPr lang="en-IN" sz="1800" dirty="0"/>
              <a:t> – Question generation &amp; evaluation </a:t>
            </a:r>
          </a:p>
          <a:p>
            <a:pPr marL="285750" lvl="0" indent="-285750">
              <a:lnSpc>
                <a:spcPct val="200000"/>
              </a:lnSpc>
              <a:buFont typeface="Arial" panose="020B0604020202020204" pitchFamily="34" charset="0"/>
              <a:buChar char="•"/>
            </a:pPr>
            <a:r>
              <a:rPr lang="en-IN" sz="1800" b="1" dirty="0"/>
              <a:t>IBM watsonx.ai</a:t>
            </a:r>
            <a:r>
              <a:rPr lang="en-IN" sz="1800" dirty="0"/>
              <a:t> – Model deployment &amp; AI services </a:t>
            </a:r>
          </a:p>
          <a:p>
            <a:pPr marL="285750" lvl="0" indent="-285750">
              <a:lnSpc>
                <a:spcPct val="200000"/>
              </a:lnSpc>
              <a:buFont typeface="Arial" panose="020B0604020202020204" pitchFamily="34" charset="0"/>
              <a:buChar char="•"/>
            </a:pPr>
            <a:r>
              <a:rPr lang="en-IN" sz="1800" b="1" dirty="0"/>
              <a:t>RAG (Retrieval-Augmented Generation)</a:t>
            </a:r>
            <a:r>
              <a:rPr lang="en-IN" sz="1800" dirty="0"/>
              <a:t> – Fetch real interview data </a:t>
            </a:r>
          </a:p>
          <a:p>
            <a:pPr marL="285750" lvl="0" indent="-285750">
              <a:lnSpc>
                <a:spcPct val="200000"/>
              </a:lnSpc>
              <a:buFont typeface="Arial" panose="020B0604020202020204" pitchFamily="34" charset="0"/>
              <a:buChar char="•"/>
            </a:pPr>
            <a:r>
              <a:rPr lang="en-IN" sz="1800" b="1" dirty="0"/>
              <a:t>Vector Database (Chroma)</a:t>
            </a:r>
            <a:r>
              <a:rPr lang="en-IN" sz="1800" dirty="0"/>
              <a:t> – Store &amp; retrieve embeddings </a:t>
            </a:r>
          </a:p>
          <a:p>
            <a:pPr marL="285750" lvl="0" indent="-285750">
              <a:lnSpc>
                <a:spcPct val="200000"/>
              </a:lnSpc>
              <a:buFont typeface="Arial" panose="020B0604020202020204" pitchFamily="34" charset="0"/>
              <a:buChar char="•"/>
            </a:pPr>
            <a:r>
              <a:rPr lang="en-IN" sz="1800" b="1" dirty="0" err="1"/>
              <a:t>Streamlit</a:t>
            </a:r>
            <a:r>
              <a:rPr lang="en-IN" sz="1800" dirty="0"/>
              <a:t> – User interface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26AE77B4-704A-3A83-DF19-A19BAD53F97B}"/>
              </a:ext>
            </a:extLst>
          </p:cNvPr>
          <p:cNvPicPr>
            <a:picLocks noChangeAspect="1"/>
          </p:cNvPicPr>
          <p:nvPr/>
        </p:nvPicPr>
        <p:blipFill>
          <a:blip r:embed="rId3"/>
          <a:stretch>
            <a:fillRect/>
          </a:stretch>
        </p:blipFill>
        <p:spPr>
          <a:xfrm>
            <a:off x="1070124" y="862241"/>
            <a:ext cx="10051752" cy="5319357"/>
          </a:xfrm>
          <a:prstGeom prst="rect">
            <a:avLst/>
          </a:prstGeom>
        </p:spPr>
      </p:pic>
      <p:pic>
        <p:nvPicPr>
          <p:cNvPr id="5" name="Picture 4">
            <a:extLst>
              <a:ext uri="{FF2B5EF4-FFF2-40B4-BE49-F238E27FC236}">
                <a16:creationId xmlns:a16="http://schemas.microsoft.com/office/drawing/2014/main" id="{A8A525A7-816F-932B-A94C-A8A1E13A9E75}"/>
              </a:ext>
            </a:extLst>
          </p:cNvPr>
          <p:cNvPicPr>
            <a:picLocks noChangeAspect="1"/>
          </p:cNvPicPr>
          <p:nvPr/>
        </p:nvPicPr>
        <p:blipFill>
          <a:blip r:embed="rId4"/>
          <a:stretch>
            <a:fillRect/>
          </a:stretch>
        </p:blipFill>
        <p:spPr>
          <a:xfrm>
            <a:off x="1070124" y="862241"/>
            <a:ext cx="10051752" cy="531935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1332F3F-EEF3-260F-52BA-62370775058E}"/>
              </a:ext>
            </a:extLst>
          </p:cNvPr>
          <p:cNvPicPr>
            <a:picLocks noChangeAspect="1"/>
          </p:cNvPicPr>
          <p:nvPr/>
        </p:nvPicPr>
        <p:blipFill>
          <a:blip r:embed="rId3"/>
          <a:stretch>
            <a:fillRect/>
          </a:stretch>
        </p:blipFill>
        <p:spPr>
          <a:xfrm>
            <a:off x="930880" y="863187"/>
            <a:ext cx="10028385" cy="5336589"/>
          </a:xfrm>
          <a:prstGeom prst="rect">
            <a:avLst/>
          </a:prstGeom>
        </p:spPr>
      </p:pic>
      <p:pic>
        <p:nvPicPr>
          <p:cNvPr id="3" name="Picture 2">
            <a:extLst>
              <a:ext uri="{FF2B5EF4-FFF2-40B4-BE49-F238E27FC236}">
                <a16:creationId xmlns:a16="http://schemas.microsoft.com/office/drawing/2014/main" id="{2D710A5A-0149-A8FE-1EC0-909EA42EE86D}"/>
              </a:ext>
            </a:extLst>
          </p:cNvPr>
          <p:cNvPicPr>
            <a:picLocks noChangeAspect="1"/>
          </p:cNvPicPr>
          <p:nvPr/>
        </p:nvPicPr>
        <p:blipFill>
          <a:blip r:embed="rId4"/>
          <a:stretch>
            <a:fillRect/>
          </a:stretch>
        </p:blipFill>
        <p:spPr>
          <a:xfrm>
            <a:off x="930880" y="863186"/>
            <a:ext cx="10028385" cy="5336589"/>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A74EE4-D91B-4D4B-2111-612FE060023D}"/>
              </a:ext>
            </a:extLst>
          </p:cNvPr>
          <p:cNvPicPr>
            <a:picLocks noChangeAspect="1"/>
          </p:cNvPicPr>
          <p:nvPr/>
        </p:nvPicPr>
        <p:blipFill>
          <a:blip r:embed="rId2"/>
          <a:srcRect t="-1" r="22407" b="89"/>
          <a:stretch>
            <a:fillRect/>
          </a:stretch>
        </p:blipFill>
        <p:spPr>
          <a:xfrm>
            <a:off x="682848" y="573466"/>
            <a:ext cx="5187008" cy="5456904"/>
          </a:xfrm>
          <a:prstGeom prst="rect">
            <a:avLst/>
          </a:prstGeom>
        </p:spPr>
      </p:pic>
      <p:pic>
        <p:nvPicPr>
          <p:cNvPr id="8" name="Picture 7">
            <a:extLst>
              <a:ext uri="{FF2B5EF4-FFF2-40B4-BE49-F238E27FC236}">
                <a16:creationId xmlns:a16="http://schemas.microsoft.com/office/drawing/2014/main" id="{35790FC7-D420-48CF-2B50-A955B4F68E01}"/>
              </a:ext>
            </a:extLst>
          </p:cNvPr>
          <p:cNvPicPr>
            <a:picLocks noChangeAspect="1"/>
          </p:cNvPicPr>
          <p:nvPr/>
        </p:nvPicPr>
        <p:blipFill>
          <a:blip r:embed="rId3"/>
          <a:srcRect r="16614"/>
          <a:stretch>
            <a:fillRect/>
          </a:stretch>
        </p:blipFill>
        <p:spPr>
          <a:xfrm>
            <a:off x="6096000" y="573466"/>
            <a:ext cx="5405120" cy="5456904"/>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9196FFBD-2FB9-4811-17CF-9BA2E1F4F162}"/>
              </a:ext>
            </a:extLst>
          </p:cNvPr>
          <p:cNvPicPr>
            <a:picLocks noChangeAspect="1"/>
          </p:cNvPicPr>
          <p:nvPr/>
        </p:nvPicPr>
        <p:blipFill>
          <a:blip r:embed="rId3"/>
          <a:srcRect l="7500" t="20664" r="11048" b="9583"/>
          <a:stretch>
            <a:fillRect/>
          </a:stretch>
        </p:blipFill>
        <p:spPr>
          <a:xfrm>
            <a:off x="370442" y="1170038"/>
            <a:ext cx="11196820" cy="4517923"/>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478423"/>
          </a:xfrm>
          <a:prstGeom prst="rect">
            <a:avLst/>
          </a:prstGeom>
          <a:noFill/>
        </p:spPr>
        <p:txBody>
          <a:bodyPr wrap="square" rtlCol="0">
            <a:spAutoFit/>
          </a:bodyPr>
          <a:lstStyle/>
          <a:p>
            <a:pPr>
              <a:lnSpc>
                <a:spcPct val="150000"/>
              </a:lnSpc>
            </a:pPr>
            <a:r>
              <a:rPr lang="en-IN" b="1" dirty="0"/>
              <a:t>Role of Agentic AI in Interview Trainer Agent</a:t>
            </a:r>
            <a:endParaRPr lang="en-IN" dirty="0"/>
          </a:p>
          <a:p>
            <a:pPr>
              <a:lnSpc>
                <a:spcPct val="150000"/>
              </a:lnSpc>
            </a:pPr>
            <a:r>
              <a:rPr lang="en-IN" dirty="0"/>
              <a:t>Agentic AI enables the Interview Trainer Agent to function as an intelligent, autonomous system rather than a simple chatbot. Using </a:t>
            </a:r>
            <a:r>
              <a:rPr lang="en-IN" b="1" dirty="0"/>
              <a:t>IBM watsonx.ai and IBM Granite models</a:t>
            </a:r>
            <a:r>
              <a:rPr lang="en-IN" dirty="0"/>
              <a:t>, it coordinates multiple specialized agents to deliver personalized interview preparation.</a:t>
            </a:r>
          </a:p>
          <a:p>
            <a:pPr>
              <a:lnSpc>
                <a:spcPct val="150000"/>
              </a:lnSpc>
            </a:pPr>
            <a:r>
              <a:rPr lang="en-IN" dirty="0"/>
              <a:t>Each agent performs a specific role—such as retrieving interview questions, generating model answers, evaluating user responses, and providing feedback—while working collaboratively. This </a:t>
            </a:r>
            <a:r>
              <a:rPr lang="en-IN" b="1" dirty="0"/>
              <a:t>multi-agent approach</a:t>
            </a:r>
            <a:r>
              <a:rPr lang="en-IN" dirty="0"/>
              <a:t> ensures accurate and structured interview guidance.</a:t>
            </a:r>
          </a:p>
          <a:p>
            <a:pPr>
              <a:lnSpc>
                <a:spcPct val="150000"/>
              </a:lnSpc>
            </a:pPr>
            <a:r>
              <a:rPr lang="en-IN" dirty="0"/>
              <a:t>Agentic AI brings </a:t>
            </a:r>
            <a:r>
              <a:rPr lang="en-IN" b="1" dirty="0"/>
              <a:t>context awareness</a:t>
            </a:r>
            <a:r>
              <a:rPr lang="en-IN" dirty="0"/>
              <a:t>, understanding user inputs like job role, experience level, and resume details to generate relevant questions and strategies. It supports </a:t>
            </a:r>
            <a:r>
              <a:rPr lang="en-IN" b="1" dirty="0"/>
              <a:t>real-time adaptation</a:t>
            </a:r>
            <a:r>
              <a:rPr lang="en-IN" dirty="0"/>
              <a:t>, continuously improving suggestions based on user performance.</a:t>
            </a:r>
          </a:p>
          <a:p>
            <a:pPr>
              <a:lnSpc>
                <a:spcPct val="150000"/>
              </a:lnSpc>
            </a:pPr>
            <a:r>
              <a:rPr lang="en-IN" dirty="0"/>
              <a:t>Additionally, agents communicate with each other to refine responses, provide scoring, and suggest improvements, enabling better learning outcomes.</a:t>
            </a:r>
          </a:p>
          <a:p>
            <a:pPr>
              <a:lnSpc>
                <a:spcPct val="150000"/>
              </a:lnSpc>
            </a:pPr>
            <a:r>
              <a:rPr lang="en-IN" dirty="0"/>
              <a:t>Overall, Agentic AI makes the system proactive, personalized, and goal-driven, acting like a </a:t>
            </a:r>
            <a:r>
              <a:rPr lang="en-IN" b="1" dirty="0"/>
              <a:t>smart interview coach</a:t>
            </a:r>
            <a:r>
              <a:rPr lang="en-IN" dirty="0"/>
              <a:t> that boosts confidence, improves answers, and increases success in job interviews.</a:t>
            </a:r>
          </a:p>
          <a:p>
            <a:endParaRPr lang="en-US" dirty="0"/>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008445DA-9578-9D7E-4584-13579E58C3A0}"/>
              </a:ext>
            </a:extLst>
          </p:cNvPr>
          <p:cNvPicPr>
            <a:picLocks noChangeAspect="1"/>
          </p:cNvPicPr>
          <p:nvPr/>
        </p:nvPicPr>
        <p:blipFill>
          <a:blip r:embed="rId3"/>
          <a:stretch>
            <a:fillRect/>
          </a:stretch>
        </p:blipFill>
        <p:spPr>
          <a:xfrm>
            <a:off x="648929" y="953728"/>
            <a:ext cx="10559846" cy="5122607"/>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73D9B79C-F4E5-6AB9-48BE-63E0A67C8300}"/>
              </a:ext>
            </a:extLst>
          </p:cNvPr>
          <p:cNvPicPr>
            <a:picLocks noChangeAspect="1"/>
          </p:cNvPicPr>
          <p:nvPr/>
        </p:nvPicPr>
        <p:blipFill>
          <a:blip r:embed="rId3"/>
          <a:stretch>
            <a:fillRect/>
          </a:stretch>
        </p:blipFill>
        <p:spPr>
          <a:xfrm>
            <a:off x="806245" y="866149"/>
            <a:ext cx="10579510" cy="5623237"/>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7" name="Picture 6">
            <a:extLst>
              <a:ext uri="{FF2B5EF4-FFF2-40B4-BE49-F238E27FC236}">
                <a16:creationId xmlns:a16="http://schemas.microsoft.com/office/drawing/2014/main" id="{A0FF857C-BBAA-463F-EB14-14F27428D51F}"/>
              </a:ext>
            </a:extLst>
          </p:cNvPr>
          <p:cNvPicPr>
            <a:picLocks noChangeAspect="1"/>
          </p:cNvPicPr>
          <p:nvPr/>
        </p:nvPicPr>
        <p:blipFill>
          <a:blip r:embed="rId3"/>
          <a:stretch>
            <a:fillRect/>
          </a:stretch>
        </p:blipFill>
        <p:spPr>
          <a:xfrm>
            <a:off x="943897" y="1044263"/>
            <a:ext cx="9913080" cy="5041906"/>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185761"/>
          </a:xfrm>
          <a:prstGeom prst="rect">
            <a:avLst/>
          </a:prstGeom>
          <a:noFill/>
        </p:spPr>
        <p:txBody>
          <a:bodyPr wrap="square" rtlCol="0">
            <a:spAutoFit/>
          </a:bodyPr>
          <a:lstStyle/>
          <a:p>
            <a:pPr>
              <a:lnSpc>
                <a:spcPct val="200000"/>
              </a:lnSpc>
            </a:pPr>
            <a:r>
              <a:rPr lang="en-IN" b="1" dirty="0"/>
              <a:t>Novelty and Uniqueness</a:t>
            </a:r>
          </a:p>
          <a:p>
            <a:pPr>
              <a:lnSpc>
                <a:spcPct val="200000"/>
              </a:lnSpc>
            </a:pPr>
            <a:r>
              <a:rPr lang="en-IN" dirty="0"/>
              <a:t>The proposed </a:t>
            </a:r>
            <a:r>
              <a:rPr lang="en-IN" b="1" dirty="0"/>
              <a:t>Interview Trainer Agent</a:t>
            </a:r>
            <a:r>
              <a:rPr lang="en-IN" dirty="0"/>
              <a:t> stands out by combining </a:t>
            </a:r>
            <a:r>
              <a:rPr lang="en-IN" b="1" dirty="0"/>
              <a:t>Agentic AI, RAG, and personalization</a:t>
            </a:r>
            <a:r>
              <a:rPr lang="en-IN" dirty="0"/>
              <a:t> into a single intelligent system.</a:t>
            </a:r>
          </a:p>
          <a:p>
            <a:pPr>
              <a:lnSpc>
                <a:spcPct val="200000"/>
              </a:lnSpc>
            </a:pPr>
            <a:r>
              <a:rPr lang="en-IN" b="1" dirty="0"/>
              <a:t>Multi-Agent Intelligence</a:t>
            </a:r>
            <a:r>
              <a:rPr lang="en-IN" dirty="0"/>
              <a:t> – Multiple specialized agents collaborate to generate technical, HR, and </a:t>
            </a:r>
            <a:r>
              <a:rPr lang="en-IN" dirty="0" err="1"/>
              <a:t>behavioral</a:t>
            </a:r>
            <a:r>
              <a:rPr lang="en-IN" dirty="0"/>
              <a:t> interview preparation.</a:t>
            </a:r>
          </a:p>
          <a:p>
            <a:pPr>
              <a:lnSpc>
                <a:spcPct val="200000"/>
              </a:lnSpc>
            </a:pPr>
            <a:r>
              <a:rPr lang="en-IN" b="1" dirty="0"/>
              <a:t>RAG-Based Accuracy</a:t>
            </a:r>
            <a:r>
              <a:rPr lang="en-IN" dirty="0"/>
              <a:t> – Retrieves real-time interview questions, company patterns, and industry expectations from trusted sources.</a:t>
            </a:r>
          </a:p>
          <a:p>
            <a:pPr>
              <a:lnSpc>
                <a:spcPct val="200000"/>
              </a:lnSpc>
            </a:pPr>
            <a:r>
              <a:rPr lang="en-IN" b="1" dirty="0"/>
              <a:t>Hyper-Personalization</a:t>
            </a:r>
            <a:r>
              <a:rPr lang="en-IN" dirty="0"/>
              <a:t> – Tailors questions and answers based on user profile, resume, role, and experience level.</a:t>
            </a:r>
          </a:p>
          <a:p>
            <a:pPr>
              <a:lnSpc>
                <a:spcPct val="200000"/>
              </a:lnSpc>
            </a:pPr>
            <a:r>
              <a:rPr lang="en-IN" b="1" dirty="0"/>
              <a:t>Real-Time Feedback Loop</a:t>
            </a:r>
            <a:r>
              <a:rPr lang="en-IN" dirty="0"/>
              <a:t> – Provides instant evaluation, improvement tips, and answer refinement.</a:t>
            </a:r>
          </a:p>
          <a:p>
            <a:pPr>
              <a:lnSpc>
                <a:spcPct val="200000"/>
              </a:lnSpc>
            </a:pPr>
            <a:r>
              <a:rPr lang="en-IN" b="1" dirty="0"/>
              <a:t>Multi-Modal Input</a:t>
            </a:r>
            <a:r>
              <a:rPr lang="en-IN" dirty="0"/>
              <a:t> – Supports resume upload, text input, and future voice-based interview practice.</a:t>
            </a:r>
          </a:p>
          <a:p>
            <a:pPr>
              <a:lnSpc>
                <a:spcPct val="200000"/>
              </a:lnSpc>
            </a:pPr>
            <a:r>
              <a:rPr lang="en-IN" b="1" dirty="0"/>
              <a:t>End-to-End Interview Preparation</a:t>
            </a:r>
            <a:r>
              <a:rPr lang="en-IN" dirty="0"/>
              <a:t> – Covers aptitude, technical, and HR rounds in one platform.</a:t>
            </a:r>
          </a:p>
          <a:p>
            <a:pPr>
              <a:lnSpc>
                <a:spcPct val="200000"/>
              </a:lnSpc>
            </a:pPr>
            <a:r>
              <a:rPr lang="en-IN" b="1" dirty="0"/>
              <a:t>Scalable &amp; Industry-Ready</a:t>
            </a:r>
            <a:r>
              <a:rPr lang="en-IN" dirty="0"/>
              <a:t> – Built using </a:t>
            </a:r>
            <a:r>
              <a:rPr lang="en-IN" b="1" dirty="0"/>
              <a:t>IBM watsonx.ai and IBM Granite models</a:t>
            </a:r>
            <a:r>
              <a:rPr lang="en-IN" dirty="0"/>
              <a:t> for reliable and scalable deployment.</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3200" b="0" i="0" u="none" strike="noStrike" cap="none" dirty="0">
                <a:solidFill>
                  <a:srgbClr val="2B3541"/>
                </a:solidFill>
                <a:latin typeface="Times New Roman"/>
                <a:ea typeface="Times New Roman"/>
                <a:cs typeface="Times New Roman"/>
                <a:sym typeface="Times New Roman"/>
              </a:rPr>
              <a:t>                       GitHub Link</a:t>
            </a:r>
            <a:r>
              <a:rPr lang="en-US" sz="3200" dirty="0">
                <a:latin typeface="Times New Roman"/>
                <a:ea typeface="Times New Roman"/>
                <a:cs typeface="Times New Roman"/>
                <a:sym typeface="Times New Roman"/>
              </a:rPr>
              <a:t> : https://github.com/git1ttt/Interview_Agent.git</a:t>
            </a:r>
            <a:endParaRPr lang="en-US" sz="3200" b="0" i="0" u="none" strike="noStrike" cap="none"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747728" y="3292212"/>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a:lnSpc>
                <a:spcPct val="150000"/>
              </a:lnSpc>
            </a:pPr>
            <a:r>
              <a:rPr lang="en-IN" sz="1800" b="1" dirty="0"/>
              <a:t>1. Integration with Resume &amp; Job Platforms</a:t>
            </a:r>
            <a:br>
              <a:rPr lang="en-IN" sz="1800" dirty="0"/>
            </a:br>
            <a:r>
              <a:rPr lang="en-IN" sz="1800" dirty="0"/>
              <a:t>The system can be integrated with platforms like LinkedIn, Naukri, or resume databases to automatically extract user profiles, job roles, and experience. This will enable the Interview Trainer Agent to generate highly personalized interview questions and preparation strategies based on real-world job requirements.</a:t>
            </a:r>
          </a:p>
          <a:p>
            <a:pPr>
              <a:lnSpc>
                <a:spcPct val="150000"/>
              </a:lnSpc>
            </a:pPr>
            <a:r>
              <a:rPr lang="en-IN" sz="1800" b="1" dirty="0"/>
              <a:t>2. AI-Powered Voice Interview Simulation &amp; Multilingual Support</a:t>
            </a:r>
            <a:br>
              <a:rPr lang="en-IN" sz="1800" dirty="0"/>
            </a:br>
            <a:r>
              <a:rPr lang="en-IN" sz="1800" dirty="0"/>
              <a:t>The solution can be enhanced with a voice-based mock interview system where users can practice real-time interviews. Adding multilingual support will allow users to practice interviews in different languages, improving accessibility and helping candidates prepare for global job opportunities.</a:t>
            </a:r>
          </a:p>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 </a:t>
            </a:r>
          </a:p>
        </p:txBody>
      </p:sp>
      <p:sp>
        <p:nvSpPr>
          <p:cNvPr id="7" name="Rectangle 6">
            <a:extLst>
              <a:ext uri="{FF2B5EF4-FFF2-40B4-BE49-F238E27FC236}">
                <a16:creationId xmlns:a16="http://schemas.microsoft.com/office/drawing/2014/main" id="{633BADBC-6623-0D21-CD7E-B05CE0A81B97}"/>
              </a:ext>
            </a:extLst>
          </p:cNvPr>
          <p:cNvSpPr/>
          <p:nvPr/>
        </p:nvSpPr>
        <p:spPr>
          <a:xfrm>
            <a:off x="2841524" y="2979175"/>
            <a:ext cx="4414683" cy="4498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1AAF865-9AD1-28E2-03FD-33765FB3E51D}"/>
              </a:ext>
            </a:extLst>
          </p:cNvPr>
          <p:cNvPicPr>
            <a:picLocks noChangeAspect="1"/>
          </p:cNvPicPr>
          <p:nvPr/>
        </p:nvPicPr>
        <p:blipFill>
          <a:blip r:embed="rId2"/>
          <a:srcRect l="19388" t="16698" r="21129" b="-2941"/>
          <a:stretch>
            <a:fillRect/>
          </a:stretch>
        </p:blipFill>
        <p:spPr>
          <a:xfrm>
            <a:off x="1813162" y="1151726"/>
            <a:ext cx="7252180" cy="5585952"/>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0" y="55702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pic>
        <p:nvPicPr>
          <p:cNvPr id="3" name="Picture 2">
            <a:extLst>
              <a:ext uri="{FF2B5EF4-FFF2-40B4-BE49-F238E27FC236}">
                <a16:creationId xmlns:a16="http://schemas.microsoft.com/office/drawing/2014/main" id="{7014BCFB-229D-DBAA-95C9-08A97EBCD54C}"/>
              </a:ext>
            </a:extLst>
          </p:cNvPr>
          <p:cNvPicPr>
            <a:picLocks noChangeAspect="1"/>
          </p:cNvPicPr>
          <p:nvPr/>
        </p:nvPicPr>
        <p:blipFill>
          <a:blip r:embed="rId2"/>
          <a:srcRect t="16870" r="46936" b="22306"/>
          <a:stretch>
            <a:fillRect/>
          </a:stretch>
        </p:blipFill>
        <p:spPr>
          <a:xfrm>
            <a:off x="1740309" y="1327355"/>
            <a:ext cx="7973961" cy="419837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TotalTime>
  <Words>1121</Words>
  <Application>Microsoft Office PowerPoint</Application>
  <PresentationFormat>Widescreen</PresentationFormat>
  <Paragraphs>101</Paragraphs>
  <Slides>19</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Roshana B A</cp:lastModifiedBy>
  <cp:revision>4</cp:revision>
  <dcterms:created xsi:type="dcterms:W3CDTF">2025-07-08T05:06:56Z</dcterms:created>
  <dcterms:modified xsi:type="dcterms:W3CDTF">2026-09-11T15:31:35Z</dcterms:modified>
</cp:coreProperties>
</file>